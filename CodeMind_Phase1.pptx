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42337"/>
    <a:srgbClr val="5D6268"/>
    <a:srgbClr val="F8FA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1" d="100"/>
          <a:sy n="71" d="100"/>
        </p:scale>
        <p:origin x="672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37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278007"/>
            <a:ext cx="3496470" cy="1015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0" b="1" dirty="0" err="1">
                <a:solidFill>
                  <a:srgbClr val="142337"/>
                </a:solidFill>
              </a:rPr>
              <a:t>CodeMind</a:t>
            </a:r>
            <a:endParaRPr sz="6000" b="1" dirty="0">
              <a:solidFill>
                <a:srgbClr val="142337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32688" y="2148840"/>
            <a:ext cx="466128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dirty="0">
                <a:solidFill>
                  <a:srgbClr val="2373BE"/>
                </a:solidFill>
              </a:rPr>
              <a:t>AI-Powered Repository
Understanding Assistant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" y="3414369"/>
            <a:ext cx="208384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dirty="0">
                <a:solidFill>
                  <a:srgbClr val="69707A"/>
                </a:solidFill>
              </a:rPr>
              <a:t>PROJECT PHASE I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8385" y="4754880"/>
            <a:ext cx="3204980" cy="134652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D323A"/>
                </a:solidFill>
              </a:defRPr>
            </a:pPr>
            <a:r>
              <a:rPr sz="1600" dirty="0"/>
              <a:t>Presented by: Pritesh Kumrawat</a:t>
            </a:r>
          </a:p>
          <a:p>
            <a:pPr>
              <a:spcAft>
                <a:spcPts val="700"/>
              </a:spcAft>
              <a:defRPr sz="1400">
                <a:solidFill>
                  <a:srgbClr val="2D323A"/>
                </a:solidFill>
              </a:defRPr>
            </a:pPr>
            <a:r>
              <a:rPr sz="1600" dirty="0"/>
              <a:t>Roll No.: </a:t>
            </a:r>
            <a:r>
              <a:rPr lang="en-US" sz="1600" dirty="0"/>
              <a:t>205124070</a:t>
            </a:r>
            <a:endParaRPr sz="1600" dirty="0"/>
          </a:p>
          <a:p>
            <a:pPr>
              <a:spcAft>
                <a:spcPts val="700"/>
              </a:spcAft>
              <a:defRPr sz="1400">
                <a:solidFill>
                  <a:srgbClr val="2D323A"/>
                </a:solidFill>
              </a:defRPr>
            </a:pPr>
            <a:r>
              <a:rPr sz="1600" dirty="0"/>
              <a:t>Guide: </a:t>
            </a:r>
            <a:r>
              <a:rPr lang="en-US" sz="1600" dirty="0"/>
              <a:t>Dr. Michael </a:t>
            </a:r>
            <a:r>
              <a:rPr lang="en-US" sz="1600" dirty="0" err="1"/>
              <a:t>Arock</a:t>
            </a:r>
            <a:endParaRPr lang="en-US" sz="1600" dirty="0"/>
          </a:p>
          <a:p>
            <a:pPr>
              <a:spcAft>
                <a:spcPts val="700"/>
              </a:spcAft>
              <a:defRPr sz="1400">
                <a:solidFill>
                  <a:srgbClr val="2D323A"/>
                </a:solidFill>
              </a:defRPr>
            </a:pPr>
            <a:r>
              <a:rPr lang="en-US" sz="1600" dirty="0"/>
              <a:t>Department: Computer Applications</a:t>
            </a:r>
            <a:endParaRPr sz="1600" dirty="0"/>
          </a:p>
        </p:txBody>
      </p:sp>
      <p:sp>
        <p:nvSpPr>
          <p:cNvPr id="7" name="Rounded Rectangle 6"/>
          <p:cNvSpPr/>
          <p:nvPr/>
        </p:nvSpPr>
        <p:spPr>
          <a:xfrm>
            <a:off x="8046720" y="1508760"/>
            <a:ext cx="2724374" cy="1005840"/>
          </a:xfrm>
          <a:prstGeom prst="roundRect">
            <a:avLst/>
          </a:prstGeom>
          <a:solidFill>
            <a:srgbClr val="E1F0FC"/>
          </a:solidFill>
          <a:ln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0" y="1780847"/>
            <a:ext cx="21945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dirty="0">
                <a:solidFill>
                  <a:srgbClr val="2373BE"/>
                </a:solidFill>
              </a:rPr>
              <a:t>GitHub Repo</a:t>
            </a:r>
          </a:p>
        </p:txBody>
      </p:sp>
      <p:sp>
        <p:nvSpPr>
          <p:cNvPr id="14" name="Rounded Rectangle 6">
            <a:extLst>
              <a:ext uri="{FF2B5EF4-FFF2-40B4-BE49-F238E27FC236}">
                <a16:creationId xmlns:a16="http://schemas.microsoft.com/office/drawing/2014/main" id="{7009D29B-5848-DD8F-BDB1-0547A2F3ABBD}"/>
              </a:ext>
            </a:extLst>
          </p:cNvPr>
          <p:cNvSpPr/>
          <p:nvPr/>
        </p:nvSpPr>
        <p:spPr>
          <a:xfrm>
            <a:off x="8046720" y="3110077"/>
            <a:ext cx="2724374" cy="1005840"/>
          </a:xfrm>
          <a:prstGeom prst="roundRect">
            <a:avLst/>
          </a:prstGeom>
          <a:solidFill>
            <a:srgbClr val="E1F0FC"/>
          </a:solidFill>
          <a:ln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338028C-E5CF-45D6-69C9-099E67532851}"/>
              </a:ext>
            </a:extLst>
          </p:cNvPr>
          <p:cNvSpPr txBox="1"/>
          <p:nvPr/>
        </p:nvSpPr>
        <p:spPr>
          <a:xfrm>
            <a:off x="8229600" y="3382164"/>
            <a:ext cx="21945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2373BE"/>
                </a:solidFill>
              </a:rPr>
              <a:t>RAG</a:t>
            </a:r>
            <a:endParaRPr sz="2400" b="1" dirty="0">
              <a:solidFill>
                <a:srgbClr val="2373BE"/>
              </a:solidFill>
            </a:endParaRPr>
          </a:p>
        </p:txBody>
      </p:sp>
      <p:sp>
        <p:nvSpPr>
          <p:cNvPr id="18" name="Rounded Rectangle 6">
            <a:extLst>
              <a:ext uri="{FF2B5EF4-FFF2-40B4-BE49-F238E27FC236}">
                <a16:creationId xmlns:a16="http://schemas.microsoft.com/office/drawing/2014/main" id="{A412CB5C-C337-18DD-3603-BBD4DC59C1C6}"/>
              </a:ext>
            </a:extLst>
          </p:cNvPr>
          <p:cNvSpPr/>
          <p:nvPr/>
        </p:nvSpPr>
        <p:spPr>
          <a:xfrm>
            <a:off x="8046720" y="4754880"/>
            <a:ext cx="2724374" cy="1005840"/>
          </a:xfrm>
          <a:prstGeom prst="roundRect">
            <a:avLst/>
          </a:prstGeom>
          <a:solidFill>
            <a:srgbClr val="E1F0FC"/>
          </a:solidFill>
          <a:ln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BC220C8-C533-772E-12F7-CA7CA72E0935}"/>
              </a:ext>
            </a:extLst>
          </p:cNvPr>
          <p:cNvSpPr txBox="1"/>
          <p:nvPr/>
        </p:nvSpPr>
        <p:spPr>
          <a:xfrm>
            <a:off x="8229600" y="5026967"/>
            <a:ext cx="21945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2373BE"/>
                </a:solidFill>
              </a:rPr>
              <a:t>AI Answer</a:t>
            </a:r>
            <a:endParaRPr sz="2400" b="1" dirty="0">
              <a:solidFill>
                <a:srgbClr val="2373BE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37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373BE"/>
                </a:solidFill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384048"/>
            <a:ext cx="2878865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dirty="0">
                <a:solidFill>
                  <a:srgbClr val="142337"/>
                </a:solidFill>
              </a:rPr>
              <a:t>INTRODUCTION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960120"/>
            <a:ext cx="10972800" cy="13716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7132320" cy="3939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800">
                <a:solidFill>
                  <a:srgbClr val="2D323A"/>
                </a:solidFill>
              </a:defRPr>
            </a:pPr>
            <a:r>
              <a:rPr sz="2000" dirty="0"/>
              <a:t>•  Large GitHub repositories contain source code, documentation, configuration, and dependencies.</a:t>
            </a:r>
          </a:p>
          <a:p>
            <a:pPr>
              <a:spcAft>
                <a:spcPts val="1500"/>
              </a:spcAft>
              <a:defRPr sz="1800">
                <a:solidFill>
                  <a:srgbClr val="2D323A"/>
                </a:solidFill>
              </a:defRPr>
            </a:pPr>
            <a:r>
              <a:rPr sz="2000" dirty="0"/>
              <a:t>•  Understanding an unfamiliar repository manually can be time-consuming.</a:t>
            </a:r>
          </a:p>
          <a:p>
            <a:pPr>
              <a:spcAft>
                <a:spcPts val="1500"/>
              </a:spcAft>
              <a:defRPr sz="1800">
                <a:solidFill>
                  <a:srgbClr val="2D323A"/>
                </a:solidFill>
              </a:defRPr>
            </a:pPr>
            <a:r>
              <a:rPr sz="2000" dirty="0"/>
              <a:t>•  </a:t>
            </a:r>
            <a:r>
              <a:rPr sz="2000" dirty="0" err="1"/>
              <a:t>CodeMind</a:t>
            </a:r>
            <a:r>
              <a:rPr sz="2000" dirty="0"/>
              <a:t> uses Retrieval-Augmented Generation (RAG) and LLMs to understand repository content.</a:t>
            </a:r>
          </a:p>
          <a:p>
            <a:pPr>
              <a:spcAft>
                <a:spcPts val="1500"/>
              </a:spcAft>
              <a:defRPr sz="1800">
                <a:solidFill>
                  <a:srgbClr val="2D323A"/>
                </a:solidFill>
              </a:defRPr>
            </a:pPr>
            <a:r>
              <a:rPr sz="2000" dirty="0"/>
              <a:t>•  Users provide a GitHub repository URL and ask questions about the project.</a:t>
            </a:r>
          </a:p>
          <a:p>
            <a:pPr>
              <a:spcAft>
                <a:spcPts val="1500"/>
              </a:spcAft>
              <a:defRPr sz="1800">
                <a:solidFill>
                  <a:srgbClr val="2D323A"/>
                </a:solidFill>
              </a:defRPr>
            </a:pPr>
            <a:r>
              <a:rPr sz="2000" dirty="0"/>
              <a:t>•  The system aims to provide context-aware answers about code, structure, APIs, and documentation.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21039" y="1502665"/>
            <a:ext cx="3063240" cy="4114800"/>
          </a:xfrm>
          <a:prstGeom prst="roundRect">
            <a:avLst/>
          </a:prstGeom>
          <a:solidFill>
            <a:srgbClr val="E1F0FC"/>
          </a:solidFill>
          <a:ln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43349" y="2128904"/>
            <a:ext cx="2218621" cy="286232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2000" b="1" dirty="0">
                <a:solidFill>
                  <a:srgbClr val="2373BE"/>
                </a:solidFill>
              </a:rPr>
              <a:t>GitHub Repository</a:t>
            </a:r>
            <a:endParaRPr lang="en-US" sz="2000" b="1" dirty="0">
              <a:solidFill>
                <a:srgbClr val="2373BE"/>
              </a:solidFill>
            </a:endParaRPr>
          </a:p>
          <a:p>
            <a:pPr algn="ctr"/>
            <a:r>
              <a:rPr sz="2000" b="1" dirty="0">
                <a:solidFill>
                  <a:srgbClr val="2373BE"/>
                </a:solidFill>
              </a:rPr>
              <a:t>
↓</a:t>
            </a:r>
            <a:endParaRPr lang="en-US" sz="2000" b="1" dirty="0">
              <a:solidFill>
                <a:srgbClr val="2373BE"/>
              </a:solidFill>
            </a:endParaRPr>
          </a:p>
          <a:p>
            <a:pPr algn="ctr"/>
            <a:r>
              <a:rPr sz="2000" b="1" dirty="0">
                <a:solidFill>
                  <a:srgbClr val="2373BE"/>
                </a:solidFill>
              </a:rPr>
              <a:t>
Repository Context</a:t>
            </a:r>
            <a:endParaRPr lang="en-US" sz="2000" b="1" dirty="0">
              <a:solidFill>
                <a:srgbClr val="2373BE"/>
              </a:solidFill>
            </a:endParaRPr>
          </a:p>
          <a:p>
            <a:pPr algn="ctr"/>
            <a:r>
              <a:rPr sz="2000" b="1" dirty="0">
                <a:solidFill>
                  <a:srgbClr val="2373BE"/>
                </a:solidFill>
              </a:rPr>
              <a:t>
↓</a:t>
            </a:r>
            <a:endParaRPr lang="en-US" sz="2000" b="1" dirty="0">
              <a:solidFill>
                <a:srgbClr val="2373BE"/>
              </a:solidFill>
            </a:endParaRPr>
          </a:p>
          <a:p>
            <a:pPr algn="ctr"/>
            <a:r>
              <a:rPr sz="2000" b="1" dirty="0">
                <a:solidFill>
                  <a:srgbClr val="2373BE"/>
                </a:solidFill>
              </a:rPr>
              <a:t>
AI Answers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37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373BE"/>
                </a:solidFill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384048"/>
            <a:ext cx="4450642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 dirty="0">
                <a:solidFill>
                  <a:srgbClr val="142337"/>
                </a:solidFill>
              </a:rPr>
              <a:t>PROBLEM STATEMENT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960120"/>
            <a:ext cx="10972800" cy="13716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46760" y="1572768"/>
            <a:ext cx="106984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533533" y="1819656"/>
            <a:ext cx="9124934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 dirty="0">
                <a:solidFill>
                  <a:srgbClr val="142337"/>
                </a:solidFill>
              </a:rPr>
              <a:t>Develop a system that analyzes a GitHub repository and provides
accurate, context-aware answers to user queries about the repository.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387858"/>
            <a:ext cx="9875520" cy="1400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800">
                <a:solidFill>
                  <a:srgbClr val="2D323A"/>
                </a:solidFill>
              </a:defRPr>
            </a:pPr>
            <a:r>
              <a:rPr sz="2000" dirty="0"/>
              <a:t>•  Relevant information may be distributed across multiple files and modules.</a:t>
            </a:r>
          </a:p>
          <a:p>
            <a:pPr>
              <a:spcAft>
                <a:spcPts val="1500"/>
              </a:spcAft>
              <a:defRPr sz="1800">
                <a:solidFill>
                  <a:srgbClr val="2D323A"/>
                </a:solidFill>
              </a:defRPr>
            </a:pPr>
            <a:r>
              <a:rPr sz="2000" dirty="0"/>
              <a:t>•  Traditional search can locate information but may not explain its context.</a:t>
            </a:r>
          </a:p>
          <a:p>
            <a:pPr>
              <a:spcAft>
                <a:spcPts val="1500"/>
              </a:spcAft>
              <a:defRPr sz="1800">
                <a:solidFill>
                  <a:srgbClr val="2D323A"/>
                </a:solidFill>
              </a:defRPr>
            </a:pPr>
            <a:r>
              <a:rPr sz="2000" dirty="0"/>
              <a:t>•  General-purpose LLMs may not have access to the complete repository context.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37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373BE"/>
                </a:solidFill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384048"/>
            <a:ext cx="2188356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dirty="0">
                <a:solidFill>
                  <a:srgbClr val="142337"/>
                </a:solidFill>
              </a:rPr>
              <a:t>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960120"/>
            <a:ext cx="10972800" cy="13716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23578" y="1686261"/>
            <a:ext cx="301685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dirty="0">
                <a:solidFill>
                  <a:srgbClr val="FFFFFF"/>
                </a:solidFill>
              </a:rPr>
              <a:t>1</a:t>
            </a:r>
            <a:endParaRPr sz="1000" b="1" dirty="0">
              <a:solidFill>
                <a:srgbClr val="FFFFFF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51560" y="1544895"/>
            <a:ext cx="8774723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sz="2000" b="1" dirty="0">
                <a:solidFill>
                  <a:srgbClr val="142337"/>
                </a:solidFill>
              </a:rPr>
              <a:t>Accept </a:t>
            </a:r>
            <a:r>
              <a:rPr sz="2000" dirty="0">
                <a:solidFill>
                  <a:srgbClr val="2D323A"/>
                </a:solidFill>
              </a:rPr>
              <a:t>GitHub repository URL as input.</a:t>
            </a:r>
            <a:endParaRPr lang="en-US" sz="2000" dirty="0">
              <a:solidFill>
                <a:srgbClr val="2D323A"/>
              </a:solidFill>
            </a:endParaRPr>
          </a:p>
          <a:p>
            <a:pPr marL="342900" indent="-342900">
              <a:buFontTx/>
              <a:buAutoNum type="arabicPeriod"/>
            </a:pPr>
            <a:r>
              <a:rPr lang="fr-FR" sz="2000" b="1" dirty="0">
                <a:solidFill>
                  <a:srgbClr val="142337"/>
                </a:solidFill>
              </a:rPr>
              <a:t>Analyse </a:t>
            </a:r>
            <a:r>
              <a:rPr lang="fr-FR" sz="2000" dirty="0">
                <a:solidFill>
                  <a:srgbClr val="2D323A"/>
                </a:solidFill>
              </a:rPr>
              <a:t>Source code, documentation, and Project structure.</a:t>
            </a:r>
          </a:p>
          <a:p>
            <a:pPr marL="342900" indent="-342900">
              <a:buFontTx/>
              <a:buAutoNum type="arabicPeriod"/>
            </a:pPr>
            <a:r>
              <a:rPr lang="en-US" sz="2000" b="1" dirty="0">
                <a:solidFill>
                  <a:srgbClr val="142337"/>
                </a:solidFill>
              </a:rPr>
              <a:t>Retrieve </a:t>
            </a:r>
            <a:r>
              <a:rPr lang="en-US" sz="2000" dirty="0">
                <a:solidFill>
                  <a:srgbClr val="2D323A"/>
                </a:solidFill>
              </a:rPr>
              <a:t>Relevant repository information using RAG.</a:t>
            </a:r>
          </a:p>
          <a:p>
            <a:pPr marL="342900" indent="-342900">
              <a:buFontTx/>
              <a:buAutoNum type="arabicPeriod"/>
            </a:pPr>
            <a:r>
              <a:rPr lang="en-US" sz="2000" b="1" dirty="0">
                <a:solidFill>
                  <a:srgbClr val="142337"/>
                </a:solidFill>
              </a:rPr>
              <a:t>Generate </a:t>
            </a:r>
            <a:r>
              <a:rPr lang="en-US" sz="2000" dirty="0">
                <a:solidFill>
                  <a:srgbClr val="2D323A"/>
                </a:solidFill>
              </a:rPr>
              <a:t>Context-aware answers using an LLM.</a:t>
            </a:r>
          </a:p>
          <a:p>
            <a:pPr marL="342900" indent="-342900">
              <a:buFontTx/>
              <a:buAutoNum type="arabicPeriod"/>
            </a:pPr>
            <a:r>
              <a:rPr lang="en-US" sz="2000" b="1" dirty="0">
                <a:solidFill>
                  <a:srgbClr val="142337"/>
                </a:solidFill>
              </a:rPr>
              <a:t>Assist </a:t>
            </a:r>
            <a:r>
              <a:rPr lang="en-US" sz="2000" dirty="0">
                <a:solidFill>
                  <a:srgbClr val="2D323A"/>
                </a:solidFill>
              </a:rPr>
              <a:t>Users in understanding unfamiliar repositories.</a:t>
            </a:r>
          </a:p>
          <a:p>
            <a:pPr marL="342900" indent="-342900">
              <a:buAutoNum type="arabicPeriod"/>
            </a:pPr>
            <a:endParaRPr sz="2000" dirty="0">
              <a:solidFill>
                <a:srgbClr val="2D323A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23578" y="3103581"/>
            <a:ext cx="301685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dirty="0">
                <a:solidFill>
                  <a:srgbClr val="FFFFFF"/>
                </a:solidFill>
              </a:rPr>
              <a:t>3</a:t>
            </a:r>
            <a:endParaRPr sz="1000" b="1" dirty="0">
              <a:solidFill>
                <a:srgbClr val="FFFFFF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409978" y="3103581"/>
            <a:ext cx="301685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dirty="0">
                <a:solidFill>
                  <a:srgbClr val="FFFFFF"/>
                </a:solidFill>
              </a:rPr>
              <a:t>4</a:t>
            </a:r>
            <a:endParaRPr sz="1000" b="1" dirty="0">
              <a:solidFill>
                <a:srgbClr val="FFFFFF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B19AE71-1A77-F92C-2C22-5961967DED77}"/>
              </a:ext>
            </a:extLst>
          </p:cNvPr>
          <p:cNvSpPr txBox="1"/>
          <p:nvPr/>
        </p:nvSpPr>
        <p:spPr>
          <a:xfrm>
            <a:off x="1051560" y="3483887"/>
            <a:ext cx="9672705" cy="218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>
                <a:solidFill>
                  <a:srgbClr val="142337"/>
                </a:solidFill>
              </a:rPr>
              <a:t>Expected Capabilities</a:t>
            </a:r>
          </a:p>
          <a:p>
            <a:pPr>
              <a:buNone/>
            </a:pPr>
            <a:endParaRPr lang="en-US" sz="2800" b="1" dirty="0">
              <a:solidFill>
                <a:srgbClr val="142337"/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142337"/>
                </a:solidFill>
              </a:rPr>
              <a:t>Project Understanding</a:t>
            </a:r>
            <a:r>
              <a:rPr lang="en-US" sz="2000" dirty="0">
                <a:solidFill>
                  <a:srgbClr val="142337"/>
                </a:solidFill>
              </a:rPr>
              <a:t> -</a:t>
            </a:r>
            <a:r>
              <a:rPr lang="en-US" sz="2000" dirty="0">
                <a:solidFill>
                  <a:srgbClr val="5D6268"/>
                </a:solidFill>
              </a:rPr>
              <a:t> Explain purpose, architecture, and folder structure.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142337"/>
                </a:solidFill>
              </a:rPr>
              <a:t>Code Understanding</a:t>
            </a:r>
            <a:r>
              <a:rPr lang="en-US" sz="2000" dirty="0">
                <a:solidFill>
                  <a:srgbClr val="142337"/>
                </a:solidFill>
              </a:rPr>
              <a:t> - </a:t>
            </a:r>
            <a:r>
              <a:rPr lang="en-US" sz="2000" dirty="0">
                <a:solidFill>
                  <a:srgbClr val="5D6268"/>
                </a:solidFill>
              </a:rPr>
              <a:t>Explain functions, classes, modules, and implementation.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142337"/>
                </a:solidFill>
              </a:rPr>
              <a:t>Repository Q&amp;A</a:t>
            </a:r>
            <a:r>
              <a:rPr lang="en-US" sz="2000" dirty="0">
                <a:solidFill>
                  <a:srgbClr val="142337"/>
                </a:solidFill>
              </a:rPr>
              <a:t> - </a:t>
            </a:r>
            <a:r>
              <a:rPr lang="en-US" sz="2000" dirty="0">
                <a:solidFill>
                  <a:srgbClr val="5D6268"/>
                </a:solidFill>
              </a:rPr>
              <a:t>Answer questions using repository-specific context.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142337"/>
                </a:solidFill>
              </a:rPr>
              <a:t>Technical Insights</a:t>
            </a:r>
            <a:r>
              <a:rPr lang="en-US" sz="2000" dirty="0">
                <a:solidFill>
                  <a:srgbClr val="142337"/>
                </a:solidFill>
              </a:rPr>
              <a:t> - </a:t>
            </a:r>
            <a:r>
              <a:rPr lang="en-US" sz="2000" dirty="0">
                <a:solidFill>
                  <a:srgbClr val="5D6268"/>
                </a:solidFill>
              </a:rPr>
              <a:t>Identify APIs, dependencies, configuration, and workflows.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37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373BE"/>
                </a:solidFill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384048"/>
            <a:ext cx="366799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dirty="0">
                <a:solidFill>
                  <a:srgbClr val="142337"/>
                </a:solidFill>
              </a:rPr>
              <a:t>LITERATURE 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960120"/>
            <a:ext cx="10972800" cy="13716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234440"/>
            <a:ext cx="4572000" cy="502920"/>
          </a:xfrm>
          <a:prstGeom prst="rect">
            <a:avLst/>
          </a:prstGeom>
          <a:solidFill>
            <a:srgbClr val="14233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8952" y="1353312"/>
            <a:ext cx="792205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</a:rPr>
              <a:t>Study</a:t>
            </a:r>
          </a:p>
        </p:txBody>
      </p:sp>
      <p:sp>
        <p:nvSpPr>
          <p:cNvPr id="9" name="Rectangle 8"/>
          <p:cNvSpPr/>
          <p:nvPr/>
        </p:nvSpPr>
        <p:spPr>
          <a:xfrm>
            <a:off x="5257800" y="1234440"/>
            <a:ext cx="914400" cy="502920"/>
          </a:xfrm>
          <a:prstGeom prst="rect">
            <a:avLst/>
          </a:prstGeom>
          <a:solidFill>
            <a:srgbClr val="14233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330952" y="1353312"/>
            <a:ext cx="645048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</a:rPr>
              <a:t>Year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234440"/>
            <a:ext cx="5120640" cy="502920"/>
          </a:xfrm>
          <a:prstGeom prst="rect">
            <a:avLst/>
          </a:prstGeom>
          <a:solidFill>
            <a:srgbClr val="14233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45352" y="1353312"/>
            <a:ext cx="1981889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</a:rPr>
              <a:t>Key Contribution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1737360"/>
            <a:ext cx="4572000" cy="841248"/>
          </a:xfrm>
          <a:prstGeom prst="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4" name="TextBox 13"/>
          <p:cNvSpPr txBox="1"/>
          <p:nvPr/>
        </p:nvSpPr>
        <p:spPr>
          <a:xfrm>
            <a:off x="758952" y="1856231"/>
            <a:ext cx="184614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>
                <a:solidFill>
                  <a:srgbClr val="2D323A"/>
                </a:solidFill>
              </a:rPr>
              <a:t>Lewis et al. – RAG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257800" y="1737360"/>
            <a:ext cx="914400" cy="841248"/>
          </a:xfrm>
          <a:prstGeom prst="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6" name="TextBox 15"/>
          <p:cNvSpPr txBox="1"/>
          <p:nvPr/>
        </p:nvSpPr>
        <p:spPr>
          <a:xfrm>
            <a:off x="5330952" y="1856231"/>
            <a:ext cx="652743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>
                <a:solidFill>
                  <a:srgbClr val="2D323A"/>
                </a:solidFill>
              </a:rPr>
              <a:t>2020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1737360"/>
            <a:ext cx="5120640" cy="841248"/>
          </a:xfrm>
          <a:prstGeom prst="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8" name="TextBox 17"/>
          <p:cNvSpPr txBox="1"/>
          <p:nvPr/>
        </p:nvSpPr>
        <p:spPr>
          <a:xfrm>
            <a:off x="6245352" y="1856231"/>
            <a:ext cx="50474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>
                <a:solidFill>
                  <a:srgbClr val="2D323A"/>
                </a:solidFill>
              </a:rPr>
              <a:t>Introduced retrieval-augmented generation for knowledge-intensive tasks.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2578608"/>
            <a:ext cx="4572000" cy="841248"/>
          </a:xfrm>
          <a:prstGeom prst="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0" name="TextBox 19"/>
          <p:cNvSpPr txBox="1"/>
          <p:nvPr/>
        </p:nvSpPr>
        <p:spPr>
          <a:xfrm>
            <a:off x="758952" y="2697479"/>
            <a:ext cx="1227387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>
                <a:solidFill>
                  <a:srgbClr val="2D323A"/>
                </a:solidFill>
              </a:rPr>
              <a:t>RepoCoder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257800" y="2578608"/>
            <a:ext cx="914400" cy="841248"/>
          </a:xfrm>
          <a:prstGeom prst="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2" name="TextBox 21"/>
          <p:cNvSpPr txBox="1"/>
          <p:nvPr/>
        </p:nvSpPr>
        <p:spPr>
          <a:xfrm>
            <a:off x="5330952" y="2697479"/>
            <a:ext cx="652743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>
                <a:solidFill>
                  <a:srgbClr val="2D323A"/>
                </a:solidFill>
              </a:rPr>
              <a:t>2023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72200" y="2578608"/>
            <a:ext cx="5120640" cy="841248"/>
          </a:xfrm>
          <a:prstGeom prst="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4" name="TextBox 23"/>
          <p:cNvSpPr txBox="1"/>
          <p:nvPr/>
        </p:nvSpPr>
        <p:spPr>
          <a:xfrm>
            <a:off x="6245353" y="2697479"/>
            <a:ext cx="50474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rgbClr val="2D323A"/>
                </a:solidFill>
              </a:rPr>
              <a:t>Used repository-level retrieval and generation for code understanding/completion.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" y="3419856"/>
            <a:ext cx="4572000" cy="841248"/>
          </a:xfrm>
          <a:prstGeom prst="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6" name="TextBox 25"/>
          <p:cNvSpPr txBox="1"/>
          <p:nvPr/>
        </p:nvSpPr>
        <p:spPr>
          <a:xfrm>
            <a:off x="758952" y="3538728"/>
            <a:ext cx="106946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>
                <a:solidFill>
                  <a:srgbClr val="2D323A"/>
                </a:solidFill>
              </a:rPr>
              <a:t>CodeRAG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257800" y="3419856"/>
            <a:ext cx="914400" cy="841248"/>
          </a:xfrm>
          <a:prstGeom prst="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8" name="TextBox 27"/>
          <p:cNvSpPr txBox="1"/>
          <p:nvPr/>
        </p:nvSpPr>
        <p:spPr>
          <a:xfrm>
            <a:off x="5330952" y="3538728"/>
            <a:ext cx="652743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>
                <a:solidFill>
                  <a:srgbClr val="2D323A"/>
                </a:solidFill>
              </a:rPr>
              <a:t>2025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72200" y="3419856"/>
            <a:ext cx="5120640" cy="841248"/>
          </a:xfrm>
          <a:prstGeom prst="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30" name="TextBox 29"/>
          <p:cNvSpPr txBox="1"/>
          <p:nvPr/>
        </p:nvSpPr>
        <p:spPr>
          <a:xfrm>
            <a:off x="6245352" y="3538728"/>
            <a:ext cx="50474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rgbClr val="2D323A"/>
                </a:solidFill>
              </a:rPr>
              <a:t>Explored retrieval of relevant code using relationships within repositories.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4572000"/>
            <a:ext cx="1051560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dirty="0">
                <a:solidFill>
                  <a:srgbClr val="2373BE"/>
                </a:solidFill>
              </a:rPr>
              <a:t>Research Insight: </a:t>
            </a:r>
            <a:r>
              <a:rPr sz="2400" dirty="0">
                <a:solidFill>
                  <a:srgbClr val="2D323A"/>
                </a:solidFill>
              </a:rPr>
              <a:t>Retrieval-based approaches can improve repository-level code understanding.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458</TotalTime>
  <Words>334</Words>
  <Application>Microsoft Office PowerPoint</Application>
  <PresentationFormat>Widescreen</PresentationFormat>
  <Paragraphs>59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sarvesh kumrawat</cp:lastModifiedBy>
  <cp:revision>4</cp:revision>
  <dcterms:created xsi:type="dcterms:W3CDTF">2013-01-27T09:14:16Z</dcterms:created>
  <dcterms:modified xsi:type="dcterms:W3CDTF">2026-08-12T19:31:33Z</dcterms:modified>
  <cp:category/>
</cp:coreProperties>
</file>